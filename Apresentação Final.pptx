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5"/>
  </p:notesMasterIdLst>
  <p:handoutMasterIdLst>
    <p:handoutMasterId r:id="rId16"/>
  </p:handoutMasterIdLst>
  <p:sldIdLst>
    <p:sldId id="307" r:id="rId5"/>
    <p:sldId id="308" r:id="rId6"/>
    <p:sldId id="315" r:id="rId7"/>
    <p:sldId id="309" r:id="rId8"/>
    <p:sldId id="310" r:id="rId9"/>
    <p:sldId id="312" r:id="rId10"/>
    <p:sldId id="311" r:id="rId11"/>
    <p:sldId id="313" r:id="rId12"/>
    <p:sldId id="314" r:id="rId13"/>
    <p:sldId id="306" r:id="rId14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2916" autoAdjust="0"/>
  </p:normalViewPr>
  <p:slideViewPr>
    <p:cSldViewPr snapToGrid="0">
      <p:cViewPr varScale="1">
        <p:scale>
          <a:sx n="105" d="100"/>
          <a:sy n="105" d="100"/>
        </p:scale>
        <p:origin x="834" y="144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539C632D-BF15-4631-84FE-0C7759138E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93ACF57F-BFD8-42E6-8F17-4E943B308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B7AE73-9177-4F2E-8312-5B90C03627AE}" type="datetime1">
              <a:rPr lang="pt-PT" smtClean="0"/>
              <a:t>12/06/2026</a:t>
            </a:fld>
            <a:endParaRPr lang="pt-PT" dirty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86D2B16-F3C3-4055-859A-6F49E8AF10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AFA77F1-6D66-4DCE-9BE4-83575C27E5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A0C3A-95D3-4AAB-81A1-2AA15A6DCD4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39183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PT" noProof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D9A7C-D83F-4993-9975-1800B20A4938}" type="datetime1">
              <a:rPr lang="pt-PT" smtClean="0"/>
              <a:pPr/>
              <a:t>12/06/2026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PT" noProof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PT" noProof="0" dirty="0"/>
              <a:t>Clique para editar os estilos de texto do modelo global</a:t>
            </a:r>
          </a:p>
          <a:p>
            <a:pPr lvl="1" rtl="0"/>
            <a:r>
              <a:rPr lang="pt-PT" noProof="0" dirty="0"/>
              <a:t>Segundo nível</a:t>
            </a:r>
          </a:p>
          <a:p>
            <a:pPr lvl="2" rtl="0"/>
            <a:r>
              <a:rPr lang="pt-PT" noProof="0" dirty="0"/>
              <a:t>Terceiro nível</a:t>
            </a:r>
          </a:p>
          <a:p>
            <a:pPr lvl="3" rtl="0"/>
            <a:r>
              <a:rPr lang="pt-PT" noProof="0" dirty="0"/>
              <a:t>Quarto nível</a:t>
            </a:r>
          </a:p>
          <a:p>
            <a:pPr lvl="4" rtl="0"/>
            <a:r>
              <a:rPr lang="pt-PT" noProof="0" dirty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PT" noProof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5939589-3E79-4C82-AA4A-FE78234FAA59}" type="slidenum">
              <a:rPr lang="pt-PT" noProof="0" smtClean="0"/>
              <a:t>‹nº›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99587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45879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C4C6C-43DB-8B3E-F68B-34B0C704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D476000-B0E7-2F62-07A1-608E13722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010C241-E117-096E-9460-F7EA3FCB9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E5AC68C-34DD-D829-68F5-D32EA9AB3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71331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66CCB-5800-6EC4-91E5-9755F908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83A9DE3-D00C-B316-7CAD-9343641F4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B2E96EB-5361-31A0-7147-04EC145ED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9072336-6849-AFCF-C600-C0A17819C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6976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278CB-67B8-9A1B-6E7C-EFB5263F0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79B32551-CC5E-758A-5399-C18D35DC8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40DE369-3A63-9661-7E99-D86907FA2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C8EA782-D3CA-4BDA-AA5C-CEA98C4C7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11842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21D4-0284-1498-07CF-D960037E8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8473D9C-BF3B-8A1A-B382-316F35838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E8963C7-07F5-D5EF-1741-903EAFB40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CAD1BA7-1D72-CC4E-9575-C701E6DF4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4724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ED5A0-E138-83AE-C146-4EB3D404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FD06852-E196-69A2-4A90-D1F792B44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2E675AB-D551-4D3F-9EE5-88B0682C8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D90B2DE-952E-EAAC-36BD-0E11E4816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6848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3F0E2-1305-FDF2-A820-D9FDF97DA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AC83635-A8E5-60D1-61C4-2BD2FCCD3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274C6D6-C98B-132C-7124-8488EE171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BBE4F62-9EDB-E4AC-08EC-639313835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233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02DC7-44A1-D67B-FAD5-2A3E4371C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F22A75D-3313-0274-A4D9-56EC03D12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90CA39A-438D-A3D8-DE33-3447174C0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08835CB-B80D-6D84-642D-9C9EE5976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19284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1651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PT" noProof="0"/>
              <a:t>Clique para editar o estilo do subtítulo do Modelo Global</a:t>
            </a:r>
          </a:p>
        </p:txBody>
      </p:sp>
      <p:cxnSp>
        <p:nvCxnSpPr>
          <p:cNvPr id="11" name="Conexão Reta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ítulo 2 do Diaposi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PT" noProof="0"/>
              <a:t>Clique para editar o estilo do subtítulo do Modelo Global</a:t>
            </a:r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áfico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21" name="Gráfico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23" name="Gráfico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Posição da Imagem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Cargo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03/09/20XX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cxnSp>
        <p:nvCxnSpPr>
          <p:cNvPr id="14" name="Conexão Reta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Posição do Tex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PT" noProof="0"/>
              <a:t>Clique para editar os Estilos de título do modelo global</a:t>
            </a:r>
          </a:p>
        </p:txBody>
      </p:sp>
      <p:sp>
        <p:nvSpPr>
          <p:cNvPr id="11" name="Gráfico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3" name="Gráfico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7" name="Gráfico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ção da Imagem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/>
            </a:lvl1pPr>
          </a:lstStyle>
          <a:p>
            <a:pPr rtl="0"/>
            <a:r>
              <a:rPr lang="pt-PT" noProof="0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áfico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9" name="Gráfico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PT" noProof="0"/>
              <a:t>Clique para editar o estilo do subtítulo do Modelo Global</a:t>
            </a:r>
          </a:p>
        </p:txBody>
      </p:sp>
      <p:sp>
        <p:nvSpPr>
          <p:cNvPr id="4" name="Gráfico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5" name="Gráfico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6" name="Gráfico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7" name="Gráfico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1" name="Gráfico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3" name="Gráfico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pt-PT" noProof="0" smtClean="0"/>
              <a:t>‹nº›</a:t>
            </a:fld>
            <a:endParaRPr lang="pt-PT" noProof="0"/>
          </a:p>
        </p:txBody>
      </p:sp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PT" noProof="0"/>
              <a:t>Clique para editar o estilo do subtítulo do Modelo Global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/>
          </a:p>
        </p:txBody>
      </p:sp>
      <p:sp>
        <p:nvSpPr>
          <p:cNvPr id="13" name="Marcador de Posição da Imagem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Título e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Cargo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  <a:p>
            <a:pPr lvl="1" rtl="0"/>
            <a:r>
              <a:rPr lang="pt-PT" noProof="0" dirty="0"/>
              <a:t>Segundo nível</a:t>
            </a:r>
          </a:p>
          <a:p>
            <a:pPr lvl="2" rtl="0"/>
            <a:r>
              <a:rPr lang="pt-PT" noProof="0" dirty="0"/>
              <a:t>Terceiro nível</a:t>
            </a:r>
          </a:p>
          <a:p>
            <a:pPr lvl="3" rtl="0"/>
            <a:r>
              <a:rPr lang="pt-PT" noProof="0" dirty="0"/>
              <a:t>Quarto nível</a:t>
            </a:r>
          </a:p>
          <a:p>
            <a:pPr lvl="4" rtl="0"/>
            <a:r>
              <a:rPr lang="pt-PT" noProof="0" dirty="0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9" name="Gráfico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1" name="Gráfico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áfico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2" name="Gráfico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4" name="Gráfico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 dirty="0"/>
              <a:t>Clique para 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magem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4" name="Gráfico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6" name="Gráfico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</p:txBody>
      </p: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magem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4" name="Gráfico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6" name="Gráfico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5" name="Marcador de Posição do Texto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17" name="Marcador de Posição de Conteúdo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/>
            </a:lvl1pPr>
          </a:lstStyle>
          <a:p>
            <a:pPr rtl="0"/>
            <a:r>
              <a:rPr lang="pt-PT" noProof="0"/>
              <a:t>Cargo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PT" noProof="0"/>
              <a:t>Clique para editar o estilo do subtítulo do Modelo Global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noProof="0"/>
          </a:p>
        </p:txBody>
      </p:sp>
      <p:sp>
        <p:nvSpPr>
          <p:cNvPr id="13" name="Marcador de Posição da Imagem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10" name="Marcador de Posição da Imagem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11" name="Marcador de Posição da Imagem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arcador de Posição da Imagem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32" name="Marcador de Posição da Imagem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31" name="Marcador de Posição da Imagem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30" name="Marcador de Posição da Imagem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03/09/20XX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pt-PT" noProof="0" smtClean="0"/>
              <a:pPr rtl="0"/>
              <a:t>‹nº›</a:t>
            </a:fld>
            <a:endParaRPr lang="pt-PT" noProof="0"/>
          </a:p>
        </p:txBody>
      </p:sp>
      <p:sp>
        <p:nvSpPr>
          <p:cNvPr id="8" name="Gráfico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0" name="Gráfico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sp>
        <p:nvSpPr>
          <p:cNvPr id="12" name="Gráfico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PT" noProof="0"/>
          </a:p>
        </p:txBody>
      </p:sp>
      <p:cxnSp>
        <p:nvCxnSpPr>
          <p:cNvPr id="14" name="Conexão Reta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Posição do Tex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PT" noProof="0"/>
              <a:t>Clique para editar os Estilos de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pt-PT" noProof="0" smtClean="0"/>
              <a:t>‹nº›</a:t>
            </a:fld>
            <a:endParaRPr lang="pt-PT" noProof="0"/>
          </a:p>
        </p:txBody>
      </p:sp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pt-PT" noProof="0" smtClean="0"/>
              <a:t>‹nº›</a:t>
            </a:fld>
            <a:endParaRPr lang="pt-PT" noProof="0"/>
          </a:p>
        </p:txBody>
      </p:sp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  <a:p>
            <a:pPr lvl="1" rtl="0"/>
            <a:r>
              <a:rPr lang="pt-PT" noProof="0"/>
              <a:t>Segundo nível</a:t>
            </a:r>
          </a:p>
          <a:p>
            <a:pPr lvl="2" rtl="0"/>
            <a:r>
              <a:rPr lang="pt-PT" noProof="0"/>
              <a:t>Terceiro nível</a:t>
            </a:r>
          </a:p>
          <a:p>
            <a:pPr lvl="3" rtl="0"/>
            <a:r>
              <a:rPr lang="pt-PT" noProof="0"/>
              <a:t>Quarto nível</a:t>
            </a:r>
          </a:p>
          <a:p>
            <a:pPr lvl="4" rtl="0"/>
            <a:r>
              <a:rPr lang="pt-PT" noProof="0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pt-PT" noProof="0" smtClean="0"/>
              <a:t>‹nº›</a:t>
            </a:fld>
            <a:endParaRPr lang="pt-PT" noProof="0"/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PT" noProof="0"/>
              <a:t>Clique no ícone para adicionar uma imagem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PT" noProof="0"/>
              <a:t>Clique para editar os estilos de texto do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PT" noProof="0"/>
              <a:t>03/09/20XX</a:t>
            </a:r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pt-PT" noProof="0" smtClean="0"/>
              <a:t>‹nº›</a:t>
            </a:fld>
            <a:endParaRPr lang="pt-PT" noProof="0"/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75000"/>
              </a:schemeClr>
            </a:gs>
            <a:gs pos="1000">
              <a:schemeClr val="accent1">
                <a:lumMod val="45000"/>
                <a:lumOff val="55000"/>
              </a:schemeClr>
            </a:gs>
            <a:gs pos="100000">
              <a:schemeClr val="accent4">
                <a:lumMod val="66000"/>
                <a:alpha val="48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rect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PT" noProof="0"/>
              <a:t>Clique para editar o estilo do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PT" noProof="0" dirty="0"/>
              <a:t>Clique para editar os estilos de texto do modelo global</a:t>
            </a:r>
          </a:p>
          <a:p>
            <a:pPr lvl="1" rtl="0"/>
            <a:r>
              <a:rPr lang="pt-PT" noProof="0" dirty="0"/>
              <a:t>Segundo nível</a:t>
            </a:r>
          </a:p>
          <a:p>
            <a:pPr lvl="2" rtl="0"/>
            <a:r>
              <a:rPr lang="pt-PT" noProof="0" dirty="0"/>
              <a:t>Terceiro nível</a:t>
            </a:r>
          </a:p>
          <a:p>
            <a:pPr lvl="3" rtl="0"/>
            <a:r>
              <a:rPr lang="pt-PT" noProof="0" dirty="0"/>
              <a:t>Quarto nível</a:t>
            </a:r>
          </a:p>
          <a:p>
            <a:pPr lvl="4" rtl="0"/>
            <a:r>
              <a:rPr lang="pt-PT" noProof="0" dirty="0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PT" noProof="0"/>
              <a:t>03/09/20XX</a:t>
            </a:r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PT" noProof="0"/>
              <a:t>Título da Apresentação</a:t>
            </a: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8DA9DAA-006C-4F4B-980E-E3DF019B24E2}" type="slidenum">
              <a:rPr lang="pt-PT" noProof="0" smtClean="0"/>
              <a:t>‹nº›</a:t>
            </a:fld>
            <a:endParaRPr lang="pt-PT" noProof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trobotics.com/6-resistencias-eletrica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4">
                <a:lumMod val="50000"/>
                <a:alpha val="92000"/>
              </a:schemeClr>
            </a:gs>
            <a:gs pos="1000">
              <a:schemeClr val="accent4">
                <a:lumMod val="50000"/>
              </a:schemeClr>
            </a:gs>
            <a:gs pos="98000">
              <a:schemeClr val="accent4">
                <a:lumMod val="66000"/>
                <a:alpha val="48000"/>
              </a:schemeClr>
            </a:gs>
            <a:gs pos="30000">
              <a:srgbClr val="FFC000"/>
            </a:gs>
            <a:gs pos="87000">
              <a:schemeClr val="accent4">
                <a:lumMod val="0"/>
              </a:schemeClr>
            </a:gs>
          </a:gsLst>
          <a:path path="rect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633" y="939988"/>
            <a:ext cx="1985128" cy="990241"/>
          </a:xfrm>
        </p:spPr>
        <p:txBody>
          <a:bodyPr rtlCol="0">
            <a:normAutofit/>
          </a:bodyPr>
          <a:lstStyle/>
          <a:p>
            <a:pPr algn="ctr" rtl="0"/>
            <a:r>
              <a:rPr lang="pt-PT" sz="3600" b="1" cap="all" spc="400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pt-PT" sz="2800" b="1" cap="all" spc="400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genda</a:t>
            </a:r>
            <a:endParaRPr lang="pt-PT" sz="2800" dirty="0">
              <a:solidFill>
                <a:schemeClr val="accent4">
                  <a:lumMod val="75000"/>
                </a:schemeClr>
              </a:solidFill>
              <a:latin typeface="Candara" panose="020E0502030303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030" y="2112818"/>
            <a:ext cx="3606630" cy="2214738"/>
          </a:xfrm>
        </p:spPr>
        <p:txBody>
          <a:bodyPr rtlCol="0">
            <a:noAutofit/>
          </a:bodyPr>
          <a:lstStyle/>
          <a:p>
            <a:pPr marL="285750" indent="-285750" algn="l" rtl="0"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chemeClr val="bg1"/>
                </a:solidFill>
              </a:rPr>
              <a:t>Apresentação do Projeto</a:t>
            </a:r>
          </a:p>
          <a:p>
            <a:pPr marL="285750" indent="-285750" algn="l" rtl="0"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chemeClr val="bg1"/>
                </a:solidFill>
              </a:rPr>
              <a:t>Interface do Utilizador</a:t>
            </a:r>
          </a:p>
          <a:p>
            <a:pPr marL="285750" indent="-285750" algn="l" rtl="0"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chemeClr val="bg1"/>
                </a:solidFill>
              </a:rPr>
              <a:t>Estrutura HTML</a:t>
            </a:r>
          </a:p>
          <a:p>
            <a:pPr marL="285750" indent="-285750" algn="l" rtl="0"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chemeClr val="bg1"/>
                </a:solidFill>
              </a:rPr>
              <a:t>Estilos CSS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pt-PT" sz="1600" dirty="0"/>
              <a:t>Funcionalidades JavaScript 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pt-PT" sz="1600" dirty="0"/>
              <a:t>Dificuldades Encontradas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pt-PT" sz="1600" dirty="0"/>
              <a:t>Conclusão</a:t>
            </a:r>
            <a:endParaRPr lang="pt-PT" sz="1600" dirty="0">
              <a:solidFill>
                <a:schemeClr val="bg1"/>
              </a:solidFill>
            </a:endParaRPr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AEEDFC2F-FF0A-4EC9-A0BB-0AA2B1E6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3641" y="582613"/>
            <a:ext cx="4420109" cy="1209675"/>
          </a:xfrm>
        </p:spPr>
        <p:txBody>
          <a:bodyPr rtlCol="0"/>
          <a:lstStyle/>
          <a:p>
            <a:pPr algn="l" rtl="0"/>
            <a:r>
              <a:rPr lang="pt-PT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Tecnologias</a:t>
            </a:r>
          </a:p>
          <a:p>
            <a:pPr algn="l" rtl="0"/>
            <a:r>
              <a:rPr lang="pt-PT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Internet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9277247-6BE5-F57B-D0CB-EB3D73955648}"/>
              </a:ext>
            </a:extLst>
          </p:cNvPr>
          <p:cNvSpPr txBox="1"/>
          <p:nvPr/>
        </p:nvSpPr>
        <p:spPr>
          <a:xfrm>
            <a:off x="8372474" y="5158023"/>
            <a:ext cx="34917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1400" i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Trabalho Elaborado por:</a:t>
            </a:r>
          </a:p>
          <a:p>
            <a:pPr algn="r"/>
            <a:r>
              <a:rPr lang="pt-PT" b="1" i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António Joaquim de Matos Pereira</a:t>
            </a:r>
          </a:p>
          <a:p>
            <a:pPr algn="r"/>
            <a:r>
              <a:rPr lang="pt-PT" sz="1400" b="1" i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A022928  -  Turma B</a:t>
            </a:r>
          </a:p>
          <a:p>
            <a:pPr algn="r"/>
            <a:r>
              <a:rPr lang="pt-PT" sz="1400" b="1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Junho 2026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C46811F-A58C-F85F-4DA1-3096E66B1BFD}"/>
              </a:ext>
            </a:extLst>
          </p:cNvPr>
          <p:cNvSpPr txBox="1"/>
          <p:nvPr/>
        </p:nvSpPr>
        <p:spPr>
          <a:xfrm>
            <a:off x="1402516" y="6494752"/>
            <a:ext cx="49801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Engenharia Informática - Docente: Dr. Marco Amaro Costa</a:t>
            </a:r>
          </a:p>
        </p:txBody>
      </p:sp>
      <p:pic>
        <p:nvPicPr>
          <p:cNvPr id="15" name="Imagem 14" descr="Uma imagem com circuito, Engenharia eletrónica, eletrónica, Componente eletrónico&#10;&#10;Os conteúdos gerados por IA poderão estar incorretos.">
            <a:extLst>
              <a:ext uri="{FF2B5EF4-FFF2-40B4-BE49-F238E27FC236}">
                <a16:creationId xmlns:a16="http://schemas.microsoft.com/office/drawing/2014/main" id="{ACBEE0D7-A249-2317-036B-008FA0990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427" y="2690026"/>
            <a:ext cx="4456988" cy="294988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9" name="Imagem 18" descr="Uma imagem com preto e branco, vestuário, pessoa, interior&#10;&#10;Os conteúdos gerados por IA poderão estar incorretos.">
            <a:extLst>
              <a:ext uri="{FF2B5EF4-FFF2-40B4-BE49-F238E27FC236}">
                <a16:creationId xmlns:a16="http://schemas.microsoft.com/office/drawing/2014/main" id="{145990A9-9FD7-FA03-22AB-EEE1F6270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121" y="2155140"/>
            <a:ext cx="1888074" cy="146639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38292D55-677B-79A1-D629-59F25C92A06B}"/>
              </a:ext>
            </a:extLst>
          </p:cNvPr>
          <p:cNvSpPr txBox="1"/>
          <p:nvPr/>
        </p:nvSpPr>
        <p:spPr>
          <a:xfrm>
            <a:off x="1611271" y="1762820"/>
            <a:ext cx="36782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i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passado, </a:t>
            </a:r>
            <a:r>
              <a:rPr lang="pt-PT" i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presente </a:t>
            </a:r>
            <a:r>
              <a:rPr lang="pt-PT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o </a:t>
            </a:r>
            <a:r>
              <a:rPr lang="pt-PT" sz="24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futuro</a:t>
            </a:r>
            <a:r>
              <a:rPr lang="pt-PT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…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4C0BEB-8F03-EDCF-FAF6-C2402A65E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68" y="6306921"/>
            <a:ext cx="993583" cy="44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299" y="1265001"/>
            <a:ext cx="10563225" cy="2761538"/>
          </a:xfrm>
        </p:spPr>
        <p:txBody>
          <a:bodyPr rtlCol="0">
            <a:normAutofit fontScale="62500" lnSpcReduction="20000"/>
          </a:bodyPr>
          <a:lstStyle/>
          <a:p>
            <a:pPr algn="just"/>
            <a:r>
              <a:rPr lang="pt-PT" sz="4800" dirty="0"/>
              <a:t>O projeto consiste no desenvolvimento de um website sobre Tecnologias da Internet. O site inclui uma página principal (Home), uma página dedicada a personalidades famosas ("Primas"), uma biblioteca tecnológica, uma galeria de flores e uma aplicação interativa de Loto desenvolvida em JavaScript.</a:t>
            </a:r>
            <a:endParaRPr lang="pt-PT" dirty="0"/>
          </a:p>
        </p:txBody>
      </p:sp>
      <p:pic>
        <p:nvPicPr>
          <p:cNvPr id="20" name="Imagem 19" descr="Uma imagem com edifício, pedra, material de construção, rocha&#10;&#10;Os conteúdos gerados por IA poderão estar incorretos.">
            <a:extLst>
              <a:ext uri="{FF2B5EF4-FFF2-40B4-BE49-F238E27FC236}">
                <a16:creationId xmlns:a16="http://schemas.microsoft.com/office/drawing/2014/main" id="{DB117932-2339-F3D6-570C-E8B3B6C1A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581" y="4067173"/>
            <a:ext cx="1366838" cy="18005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2" name="Marcador de Posição do Rodapé 9">
            <a:extLst>
              <a:ext uri="{FF2B5EF4-FFF2-40B4-BE49-F238E27FC236}">
                <a16:creationId xmlns:a16="http://schemas.microsoft.com/office/drawing/2014/main" id="{71BF3A94-C0F3-43B7-BC76-D910CB67BF74}"/>
              </a:ext>
            </a:extLst>
          </p:cNvPr>
          <p:cNvSpPr txBox="1">
            <a:spLocks/>
          </p:cNvSpPr>
          <p:nvPr/>
        </p:nvSpPr>
        <p:spPr>
          <a:xfrm>
            <a:off x="6779419" y="386972"/>
            <a:ext cx="5033962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pt-pt"/>
            </a:defPPr>
            <a:lvl1pPr marL="0" algn="ctr" defTabSz="914400" rtl="0" eaLnBrk="1" latinLnBrk="0" hangingPunct="1">
              <a:defRPr sz="1200" b="1" i="0" kern="1200" cap="all" spc="1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r">
              <a:buFont typeface="Wingdings" panose="05000000000000000000" pitchFamily="2" charset="2"/>
              <a:buChar char="ü"/>
            </a:pPr>
            <a:r>
              <a:rPr lang="pt-PT" sz="1800" dirty="0">
                <a:solidFill>
                  <a:schemeClr val="bg1"/>
                </a:solidFill>
              </a:rPr>
              <a:t>Apresentação do Projeto</a:t>
            </a:r>
          </a:p>
          <a:p>
            <a:pPr algn="r"/>
            <a:endParaRPr lang="pt-PT" sz="18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3" name="Conexão reta unidirecional 32">
            <a:extLst>
              <a:ext uri="{FF2B5EF4-FFF2-40B4-BE49-F238E27FC236}">
                <a16:creationId xmlns:a16="http://schemas.microsoft.com/office/drawing/2014/main" id="{D643BED0-7521-B352-24CA-5CDF71EC4039}"/>
              </a:ext>
            </a:extLst>
          </p:cNvPr>
          <p:cNvCxnSpPr>
            <a:cxnSpLocks/>
          </p:cNvCxnSpPr>
          <p:nvPr/>
        </p:nvCxnSpPr>
        <p:spPr>
          <a:xfrm>
            <a:off x="6519672" y="657833"/>
            <a:ext cx="5148453" cy="0"/>
          </a:xfrm>
          <a:prstGeom prst="straightConnector1">
            <a:avLst/>
          </a:prstGeom>
          <a:ln w="34925" cmpd="tri">
            <a:solidFill>
              <a:schemeClr val="tx1">
                <a:lumMod val="50000"/>
                <a:lumOff val="50000"/>
              </a:schemeClr>
            </a:solidFill>
            <a:headEnd type="stealth" w="lg" len="lg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EBD9CBD-1043-BECC-05EC-B2056EC90D38}"/>
              </a:ext>
            </a:extLst>
          </p:cNvPr>
          <p:cNvSpPr txBox="1"/>
          <p:nvPr/>
        </p:nvSpPr>
        <p:spPr>
          <a:xfrm>
            <a:off x="2731292" y="6035575"/>
            <a:ext cx="6853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600" b="0" i="1" dirty="0">
                <a:solidFill>
                  <a:schemeClr val="bg2">
                    <a:lumMod val="25000"/>
                  </a:schemeClr>
                </a:solidFill>
                <a:effectLst/>
                <a:latin typeface="Google Sans"/>
              </a:rPr>
              <a:t>“Pode se referir a diferentes contextos, dependendo do sentido que se busca.”</a:t>
            </a:r>
            <a:endParaRPr lang="pt-PT" sz="1600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5" name="Marcador de Posição do Número do Diapositivo 10">
            <a:extLst>
              <a:ext uri="{FF2B5EF4-FFF2-40B4-BE49-F238E27FC236}">
                <a16:creationId xmlns:a16="http://schemas.microsoft.com/office/drawing/2014/main" id="{D488D347-336C-C399-CA2B-C51F7262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5226" y="6356349"/>
            <a:ext cx="460899" cy="365125"/>
          </a:xfrm>
        </p:spPr>
        <p:txBody>
          <a:bodyPr rtlCol="0"/>
          <a:lstStyle/>
          <a:p>
            <a:pPr algn="ctr" rtl="0"/>
            <a:fld id="{D8DA9DAA-006C-4F4B-980E-E3DF019B24E2}" type="slidenum">
              <a:rPr lang="pt-PT" sz="1800" smtClean="0">
                <a:solidFill>
                  <a:schemeClr val="accent4">
                    <a:lumMod val="50000"/>
                  </a:schemeClr>
                </a:solidFill>
              </a:rPr>
              <a:pPr algn="ctr" rtl="0"/>
              <a:t>2</a:t>
            </a:fld>
            <a:endParaRPr lang="pt-PT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4EED1D-0501-6751-AF62-88EA57876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E8BE648-EE62-2404-1FB5-3152C7E48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620" y="892754"/>
            <a:ext cx="11572505" cy="5718357"/>
          </a:xfrm>
        </p:spPr>
        <p:txBody>
          <a:bodyPr numCol="2" rtlCol="0">
            <a:normAutofit/>
          </a:bodyPr>
          <a:lstStyle/>
          <a:p>
            <a:r>
              <a:rPr lang="pt-PT" sz="2800" b="1" dirty="0"/>
              <a:t>Home</a:t>
            </a:r>
          </a:p>
          <a:p>
            <a:pPr lvl="1"/>
            <a:r>
              <a:rPr lang="pt-PT" sz="2600" dirty="0"/>
              <a:t>Página inicial. </a:t>
            </a:r>
          </a:p>
          <a:p>
            <a:pPr lvl="1"/>
            <a:r>
              <a:rPr lang="pt-PT" sz="2600" dirty="0"/>
              <a:t>Menu de navegação. </a:t>
            </a:r>
          </a:p>
          <a:p>
            <a:pPr lvl="1"/>
            <a:r>
              <a:rPr lang="pt-PT" sz="2600" dirty="0"/>
              <a:t>Ligações para as restantes páginas. </a:t>
            </a:r>
          </a:p>
          <a:p>
            <a:r>
              <a:rPr lang="pt-PT" sz="2800" b="1" dirty="0"/>
              <a:t>Biblioteca</a:t>
            </a:r>
          </a:p>
          <a:p>
            <a:pPr lvl="1"/>
            <a:r>
              <a:rPr lang="pt-PT" sz="2200" dirty="0"/>
              <a:t>Grelha de livros tecnológicos. </a:t>
            </a:r>
          </a:p>
          <a:p>
            <a:pPr lvl="1"/>
            <a:r>
              <a:rPr lang="pt-PT" sz="2200" dirty="0"/>
              <a:t>Efeito hover. </a:t>
            </a:r>
          </a:p>
          <a:p>
            <a:pPr lvl="1"/>
            <a:r>
              <a:rPr lang="pt-PT" sz="2200" dirty="0"/>
              <a:t>Layout responsivo. </a:t>
            </a:r>
          </a:p>
          <a:p>
            <a:r>
              <a:rPr lang="pt-PT" sz="2800" b="1" dirty="0"/>
              <a:t>Primas</a:t>
            </a:r>
          </a:p>
          <a:p>
            <a:pPr lvl="1"/>
            <a:r>
              <a:rPr lang="pt-PT" sz="2000" dirty="0"/>
              <a:t>Combobox para seleção. </a:t>
            </a:r>
          </a:p>
          <a:p>
            <a:pPr lvl="1"/>
            <a:r>
              <a:rPr lang="pt-PT" sz="2000" dirty="0"/>
              <a:t>Atualização dinâmica da </a:t>
            </a:r>
            <a:r>
              <a:rPr lang="pt-PT" sz="2200" dirty="0"/>
              <a:t>imagem e texto </a:t>
            </a:r>
            <a:r>
              <a:rPr lang="pt-PT" sz="2000" dirty="0"/>
              <a:t>através de JavaScript. </a:t>
            </a:r>
          </a:p>
          <a:p>
            <a:r>
              <a:rPr lang="pt-PT" sz="2800" b="1" dirty="0"/>
              <a:t>Hobby</a:t>
            </a:r>
          </a:p>
          <a:p>
            <a:pPr lvl="1"/>
            <a:r>
              <a:rPr lang="pt-PT" sz="2000" dirty="0"/>
              <a:t>Galeria de flores. </a:t>
            </a:r>
          </a:p>
          <a:p>
            <a:pPr lvl="1"/>
            <a:r>
              <a:rPr lang="pt-PT" sz="2000" dirty="0"/>
              <a:t>Legendas. </a:t>
            </a:r>
          </a:p>
          <a:p>
            <a:pPr lvl="1"/>
            <a:r>
              <a:rPr lang="pt-PT" sz="2000" dirty="0"/>
              <a:t>Efeitos visuais. </a:t>
            </a:r>
          </a:p>
          <a:p>
            <a:r>
              <a:rPr lang="pt-PT" sz="2800" b="1" dirty="0"/>
              <a:t>Loto</a:t>
            </a:r>
          </a:p>
          <a:p>
            <a:pPr lvl="1"/>
            <a:r>
              <a:rPr lang="pt-PT" sz="2000" dirty="0"/>
              <a:t>Sorteio de números. </a:t>
            </a:r>
          </a:p>
          <a:p>
            <a:pPr lvl="1"/>
            <a:r>
              <a:rPr lang="pt-PT" sz="2000" dirty="0"/>
              <a:t>Reset. </a:t>
            </a:r>
          </a:p>
          <a:p>
            <a:pPr lvl="1"/>
            <a:r>
              <a:rPr lang="pt-PT" sz="2000" dirty="0"/>
              <a:t>Efeitos sonoros.</a:t>
            </a:r>
          </a:p>
          <a:p>
            <a:pPr rtl="0"/>
            <a:endParaRPr lang="pt-PT" dirty="0"/>
          </a:p>
        </p:txBody>
      </p:sp>
      <p:sp>
        <p:nvSpPr>
          <p:cNvPr id="5" name="Marcador de Posição do Rodapé 9">
            <a:extLst>
              <a:ext uri="{FF2B5EF4-FFF2-40B4-BE49-F238E27FC236}">
                <a16:creationId xmlns:a16="http://schemas.microsoft.com/office/drawing/2014/main" id="{088D84FB-4D52-90EF-27E6-D3746B04DDE9}"/>
              </a:ext>
            </a:extLst>
          </p:cNvPr>
          <p:cNvSpPr txBox="1">
            <a:spLocks/>
          </p:cNvSpPr>
          <p:nvPr/>
        </p:nvSpPr>
        <p:spPr>
          <a:xfrm>
            <a:off x="7516368" y="276609"/>
            <a:ext cx="4434173" cy="5057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pt-pt"/>
            </a:defPPr>
            <a:lvl1pPr marL="0" algn="ctr" defTabSz="914400" rtl="0" eaLnBrk="1" latinLnBrk="0" hangingPunct="1">
              <a:defRPr sz="1200" b="1" i="0" kern="1200" cap="all" spc="1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r">
              <a:buFont typeface="Wingdings" panose="05000000000000000000" pitchFamily="2" charset="2"/>
              <a:buChar char="ü"/>
            </a:pPr>
            <a:r>
              <a:rPr lang="pt-PT" sz="1800" dirty="0">
                <a:solidFill>
                  <a:schemeClr val="bg1"/>
                </a:solidFill>
              </a:rPr>
              <a:t>Interface do Utilizador</a:t>
            </a:r>
          </a:p>
          <a:p>
            <a:pPr algn="r"/>
            <a:endParaRPr lang="pt-PT" sz="18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Marcador de Posição do Número do Diapositivo 10">
            <a:extLst>
              <a:ext uri="{FF2B5EF4-FFF2-40B4-BE49-F238E27FC236}">
                <a16:creationId xmlns:a16="http://schemas.microsoft.com/office/drawing/2014/main" id="{C8858CBD-37A2-DA19-55D9-A849745E6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5226" y="6356349"/>
            <a:ext cx="460899" cy="365125"/>
          </a:xfrm>
        </p:spPr>
        <p:txBody>
          <a:bodyPr rtlCol="0"/>
          <a:lstStyle/>
          <a:p>
            <a:pPr algn="ctr" rtl="0"/>
            <a:fld id="{D8DA9DAA-006C-4F4B-980E-E3DF019B24E2}" type="slidenum">
              <a:rPr lang="pt-PT" sz="1800" smtClean="0">
                <a:solidFill>
                  <a:schemeClr val="accent4">
                    <a:lumMod val="50000"/>
                  </a:schemeClr>
                </a:solidFill>
              </a:rPr>
              <a:pPr algn="ctr" rtl="0"/>
              <a:t>3</a:t>
            </a:fld>
            <a:endParaRPr lang="pt-PT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524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A397AD-58C1-FC80-825D-D15D40156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42BCCF7-AC5B-E953-E3D7-8B9D61F9E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93" y="1284538"/>
            <a:ext cx="6327647" cy="5157751"/>
          </a:xfrm>
        </p:spPr>
        <p:txBody>
          <a:bodyPr rtlCol="0">
            <a:normAutofit fontScale="47500" lnSpcReduction="20000"/>
          </a:bodyPr>
          <a:lstStyle/>
          <a:p>
            <a:r>
              <a:rPr lang="pt-PT" sz="5400" dirty="0"/>
              <a:t>Explicar os elementos HTML utilizados:</a:t>
            </a:r>
          </a:p>
          <a:p>
            <a:pPr algn="ctr"/>
            <a:r>
              <a:rPr lang="pt-PT" sz="5000" dirty="0"/>
              <a:t>header </a:t>
            </a:r>
          </a:p>
          <a:p>
            <a:pPr algn="ctr"/>
            <a:r>
              <a:rPr lang="pt-PT" sz="5000" dirty="0" err="1"/>
              <a:t>nav</a:t>
            </a:r>
            <a:r>
              <a:rPr lang="pt-PT" sz="5000" dirty="0"/>
              <a:t> </a:t>
            </a:r>
          </a:p>
          <a:p>
            <a:pPr algn="ctr"/>
            <a:r>
              <a:rPr lang="pt-PT" sz="5000" dirty="0" err="1"/>
              <a:t>main</a:t>
            </a:r>
            <a:r>
              <a:rPr lang="pt-PT" sz="5000" dirty="0"/>
              <a:t> </a:t>
            </a:r>
          </a:p>
          <a:p>
            <a:pPr algn="ctr"/>
            <a:r>
              <a:rPr lang="pt-PT" sz="5000" dirty="0" err="1"/>
              <a:t>section</a:t>
            </a:r>
            <a:r>
              <a:rPr lang="pt-PT" sz="5000" dirty="0"/>
              <a:t> </a:t>
            </a:r>
          </a:p>
          <a:p>
            <a:pPr algn="ctr"/>
            <a:r>
              <a:rPr lang="pt-PT" sz="5000" dirty="0" err="1"/>
              <a:t>article</a:t>
            </a:r>
            <a:r>
              <a:rPr lang="pt-PT" sz="5000" dirty="0"/>
              <a:t> </a:t>
            </a:r>
          </a:p>
          <a:p>
            <a:pPr algn="ctr"/>
            <a:r>
              <a:rPr lang="pt-PT" sz="5000" dirty="0"/>
              <a:t>figure </a:t>
            </a:r>
          </a:p>
          <a:p>
            <a:pPr algn="ctr"/>
            <a:r>
              <a:rPr lang="pt-PT" sz="5000" dirty="0" err="1"/>
              <a:t>figcaption</a:t>
            </a:r>
            <a:r>
              <a:rPr lang="pt-PT" sz="5000" dirty="0"/>
              <a:t> </a:t>
            </a:r>
          </a:p>
          <a:p>
            <a:pPr algn="ctr"/>
            <a:r>
              <a:rPr lang="pt-PT" sz="5000" dirty="0" err="1"/>
              <a:t>footer</a:t>
            </a:r>
            <a:r>
              <a:rPr lang="pt-PT" sz="5000" dirty="0"/>
              <a:t> </a:t>
            </a:r>
          </a:p>
          <a:p>
            <a:pPr algn="ctr"/>
            <a:r>
              <a:rPr lang="pt-PT" sz="5000" dirty="0" err="1"/>
              <a:t>form</a:t>
            </a:r>
            <a:r>
              <a:rPr lang="pt-PT" sz="5000" dirty="0"/>
              <a:t> </a:t>
            </a:r>
          </a:p>
          <a:p>
            <a:pPr algn="ctr"/>
            <a:r>
              <a:rPr lang="pt-PT" sz="5000" dirty="0" err="1"/>
              <a:t>audio</a:t>
            </a:r>
            <a:endParaRPr lang="pt-PT" sz="5000" dirty="0"/>
          </a:p>
          <a:p>
            <a:pPr rtl="0"/>
            <a:endParaRPr lang="pt-PT" dirty="0"/>
          </a:p>
        </p:txBody>
      </p:sp>
      <p:sp>
        <p:nvSpPr>
          <p:cNvPr id="19" name="Marcador de Posição do Rodapé 9">
            <a:extLst>
              <a:ext uri="{FF2B5EF4-FFF2-40B4-BE49-F238E27FC236}">
                <a16:creationId xmlns:a16="http://schemas.microsoft.com/office/drawing/2014/main" id="{5713046C-CA15-2D54-2647-44502A545F0D}"/>
              </a:ext>
            </a:extLst>
          </p:cNvPr>
          <p:cNvSpPr txBox="1">
            <a:spLocks/>
          </p:cNvSpPr>
          <p:nvPr/>
        </p:nvSpPr>
        <p:spPr>
          <a:xfrm>
            <a:off x="8048625" y="386972"/>
            <a:ext cx="376475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pt-pt"/>
            </a:defPPr>
            <a:lvl1pPr marL="0" algn="ctr" defTabSz="914400" rtl="0" eaLnBrk="1" latinLnBrk="0" hangingPunct="1">
              <a:defRPr sz="1200" b="1" i="0" kern="1200" cap="all" spc="1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PT" sz="1800" dirty="0"/>
              <a:t>Estrutura HTML</a:t>
            </a:r>
          </a:p>
          <a:p>
            <a:pPr algn="r"/>
            <a:endParaRPr lang="pt-PT" sz="18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Conexão reta unidirecional 19">
            <a:extLst>
              <a:ext uri="{FF2B5EF4-FFF2-40B4-BE49-F238E27FC236}">
                <a16:creationId xmlns:a16="http://schemas.microsoft.com/office/drawing/2014/main" id="{A552DA79-FE40-864D-A036-8848A946639D}"/>
              </a:ext>
            </a:extLst>
          </p:cNvPr>
          <p:cNvCxnSpPr>
            <a:cxnSpLocks/>
          </p:cNvCxnSpPr>
          <p:nvPr/>
        </p:nvCxnSpPr>
        <p:spPr>
          <a:xfrm>
            <a:off x="8305800" y="703553"/>
            <a:ext cx="3362325" cy="0"/>
          </a:xfrm>
          <a:prstGeom prst="straightConnector1">
            <a:avLst/>
          </a:prstGeom>
          <a:ln w="34925" cmpd="tri">
            <a:solidFill>
              <a:schemeClr val="tx1">
                <a:lumMod val="50000"/>
                <a:lumOff val="50000"/>
              </a:schemeClr>
            </a:solidFill>
            <a:headEnd type="stealth" w="lg" len="lg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Posição do Número do Diapositivo 10">
            <a:extLst>
              <a:ext uri="{FF2B5EF4-FFF2-40B4-BE49-F238E27FC236}">
                <a16:creationId xmlns:a16="http://schemas.microsoft.com/office/drawing/2014/main" id="{764A0B1B-39DD-B7A3-B40A-4FF13D9D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5226" y="6356349"/>
            <a:ext cx="460899" cy="365125"/>
          </a:xfrm>
        </p:spPr>
        <p:txBody>
          <a:bodyPr rtlCol="0"/>
          <a:lstStyle/>
          <a:p>
            <a:pPr algn="ctr" rtl="0"/>
            <a:fld id="{D8DA9DAA-006C-4F4B-980E-E3DF019B24E2}" type="slidenum">
              <a:rPr lang="pt-PT" sz="1800" smtClean="0">
                <a:solidFill>
                  <a:schemeClr val="accent4">
                    <a:lumMod val="50000"/>
                  </a:schemeClr>
                </a:solidFill>
              </a:rPr>
              <a:pPr algn="ctr" rtl="0"/>
              <a:t>4</a:t>
            </a:fld>
            <a:endParaRPr lang="pt-PT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330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3173DE-FD8E-D984-D381-1E09F520D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ção da Data 8">
            <a:extLst>
              <a:ext uri="{FF2B5EF4-FFF2-40B4-BE49-F238E27FC236}">
                <a16:creationId xmlns:a16="http://schemas.microsoft.com/office/drawing/2014/main" id="{92160F3C-6436-FF65-2520-6DD8F067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875" y="6356350"/>
            <a:ext cx="1466494" cy="365125"/>
          </a:xfrm>
        </p:spPr>
        <p:txBody>
          <a:bodyPr rtlCol="0"/>
          <a:lstStyle/>
          <a:p>
            <a:pPr algn="ctr" rtl="0"/>
            <a:fld id="{992C59F5-1227-499C-A35F-B447F6AD0FC6}" type="datetime1">
              <a:rPr lang="pt-PT" i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12/06/2026</a:t>
            </a:fld>
            <a:endParaRPr lang="pt-PT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0318031-DF2A-6CE6-F49D-E1B3B8E16080}"/>
              </a:ext>
            </a:extLst>
          </p:cNvPr>
          <p:cNvSpPr txBox="1"/>
          <p:nvPr/>
        </p:nvSpPr>
        <p:spPr>
          <a:xfrm>
            <a:off x="2871217" y="1783454"/>
            <a:ext cx="6707512" cy="4224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dirty="0"/>
              <a:t>Estilos CSS</a:t>
            </a:r>
            <a:endParaRPr lang="pt-PT" sz="3200" dirty="0"/>
          </a:p>
          <a:p>
            <a:pPr algn="ctr">
              <a:lnSpc>
                <a:spcPct val="150000"/>
              </a:lnSpc>
            </a:pPr>
            <a:r>
              <a:rPr lang="pt-PT" sz="2000" dirty="0"/>
              <a:t>CSS externo. </a:t>
            </a:r>
          </a:p>
          <a:p>
            <a:pPr algn="ctr">
              <a:lnSpc>
                <a:spcPct val="150000"/>
              </a:lnSpc>
            </a:pPr>
            <a:r>
              <a:rPr lang="pt-PT" sz="2000" dirty="0"/>
              <a:t>Layout responsivo. </a:t>
            </a:r>
          </a:p>
          <a:p>
            <a:pPr algn="ctr">
              <a:lnSpc>
                <a:spcPct val="150000"/>
              </a:lnSpc>
            </a:pPr>
            <a:r>
              <a:rPr lang="pt-PT" sz="2000" dirty="0" err="1"/>
              <a:t>Flexbox</a:t>
            </a:r>
            <a:r>
              <a:rPr lang="pt-PT" sz="2000" dirty="0"/>
              <a:t>. </a:t>
            </a:r>
          </a:p>
          <a:p>
            <a:pPr algn="ctr">
              <a:lnSpc>
                <a:spcPct val="150000"/>
              </a:lnSpc>
            </a:pPr>
            <a:r>
              <a:rPr lang="pt-PT" sz="2000" dirty="0" err="1"/>
              <a:t>Grid</a:t>
            </a:r>
            <a:r>
              <a:rPr lang="pt-PT" sz="2000" dirty="0"/>
              <a:t>. </a:t>
            </a:r>
          </a:p>
          <a:p>
            <a:pPr algn="ctr">
              <a:lnSpc>
                <a:spcPct val="150000"/>
              </a:lnSpc>
            </a:pPr>
            <a:r>
              <a:rPr lang="pt-PT" sz="2000" dirty="0"/>
              <a:t>Hover. </a:t>
            </a:r>
          </a:p>
          <a:p>
            <a:pPr algn="ctr">
              <a:lnSpc>
                <a:spcPct val="150000"/>
              </a:lnSpc>
            </a:pPr>
            <a:r>
              <a:rPr lang="pt-PT" sz="2000" dirty="0"/>
              <a:t>Transições. </a:t>
            </a:r>
          </a:p>
          <a:p>
            <a:pPr algn="ctr">
              <a:lnSpc>
                <a:spcPct val="150000"/>
              </a:lnSpc>
            </a:pPr>
            <a:r>
              <a:rPr lang="pt-PT" sz="2000" dirty="0"/>
              <a:t>Media </a:t>
            </a:r>
            <a:r>
              <a:rPr lang="pt-PT" sz="2000" dirty="0" err="1"/>
              <a:t>Queries</a:t>
            </a:r>
            <a:r>
              <a:rPr lang="pt-PT" sz="2000" dirty="0"/>
              <a:t>. </a:t>
            </a:r>
          </a:p>
          <a:p>
            <a:pPr algn="ctr">
              <a:lnSpc>
                <a:spcPct val="150000"/>
              </a:lnSpc>
            </a:pPr>
            <a:r>
              <a:rPr lang="pt-PT" sz="2000" dirty="0"/>
              <a:t>Ficheiro comum genericos.css.</a:t>
            </a:r>
          </a:p>
        </p:txBody>
      </p:sp>
      <p:sp>
        <p:nvSpPr>
          <p:cNvPr id="45" name="Marcador de Posição do Rodapé 9">
            <a:extLst>
              <a:ext uri="{FF2B5EF4-FFF2-40B4-BE49-F238E27FC236}">
                <a16:creationId xmlns:a16="http://schemas.microsoft.com/office/drawing/2014/main" id="{0F300531-DAB4-8A9E-E804-5459B9468231}"/>
              </a:ext>
            </a:extLst>
          </p:cNvPr>
          <p:cNvSpPr txBox="1">
            <a:spLocks/>
          </p:cNvSpPr>
          <p:nvPr/>
        </p:nvSpPr>
        <p:spPr>
          <a:xfrm>
            <a:off x="8048625" y="386972"/>
            <a:ext cx="376475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pt-pt"/>
            </a:defPPr>
            <a:lvl1pPr marL="0" algn="ctr" defTabSz="914400" rtl="0" eaLnBrk="1" latinLnBrk="0" hangingPunct="1">
              <a:defRPr sz="1200" b="1" i="0" kern="1200" cap="all" spc="1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r>
              <a:rPr lang="pt-PT" sz="1200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r"/>
            <a:r>
              <a:rPr lang="pt-PT" sz="1800" dirty="0"/>
              <a:t>Estilos CSS</a:t>
            </a:r>
          </a:p>
          <a:p>
            <a:pPr algn="r"/>
            <a:endParaRPr lang="pt-PT" sz="18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6" name="Conexão reta unidirecional 45">
            <a:extLst>
              <a:ext uri="{FF2B5EF4-FFF2-40B4-BE49-F238E27FC236}">
                <a16:creationId xmlns:a16="http://schemas.microsoft.com/office/drawing/2014/main" id="{D54CE569-731B-BD00-05BD-62F3B16E76A8}"/>
              </a:ext>
            </a:extLst>
          </p:cNvPr>
          <p:cNvCxnSpPr>
            <a:cxnSpLocks/>
          </p:cNvCxnSpPr>
          <p:nvPr/>
        </p:nvCxnSpPr>
        <p:spPr>
          <a:xfrm>
            <a:off x="8305800" y="822425"/>
            <a:ext cx="3362325" cy="0"/>
          </a:xfrm>
          <a:prstGeom prst="straightConnector1">
            <a:avLst/>
          </a:prstGeom>
          <a:ln w="34925" cmpd="tri">
            <a:solidFill>
              <a:schemeClr val="tx1">
                <a:lumMod val="50000"/>
                <a:lumOff val="50000"/>
              </a:schemeClr>
            </a:solidFill>
            <a:headEnd type="stealth" w="lg" len="lg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Marcador de Posição do Número do Diapositivo 10">
            <a:extLst>
              <a:ext uri="{FF2B5EF4-FFF2-40B4-BE49-F238E27FC236}">
                <a16:creationId xmlns:a16="http://schemas.microsoft.com/office/drawing/2014/main" id="{E17E3D49-4A61-614E-9B77-7331E77E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5226" y="6356349"/>
            <a:ext cx="460899" cy="365125"/>
          </a:xfrm>
        </p:spPr>
        <p:txBody>
          <a:bodyPr rtlCol="0"/>
          <a:lstStyle/>
          <a:p>
            <a:pPr algn="ctr" rtl="0"/>
            <a:fld id="{D8DA9DAA-006C-4F4B-980E-E3DF019B24E2}" type="slidenum">
              <a:rPr lang="pt-PT" sz="1800" smtClean="0">
                <a:solidFill>
                  <a:schemeClr val="accent4">
                    <a:lumMod val="50000"/>
                  </a:schemeClr>
                </a:solidFill>
              </a:rPr>
              <a:pPr algn="ctr" rtl="0"/>
              <a:t>5</a:t>
            </a:fld>
            <a:endParaRPr lang="pt-PT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842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24FD690-6415-D414-9CE0-70E9770C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ção da Data 8">
            <a:extLst>
              <a:ext uri="{FF2B5EF4-FFF2-40B4-BE49-F238E27FC236}">
                <a16:creationId xmlns:a16="http://schemas.microsoft.com/office/drawing/2014/main" id="{5B4607F8-184A-A99E-646B-B0B5E9E3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875" y="6356350"/>
            <a:ext cx="1466494" cy="365125"/>
          </a:xfrm>
        </p:spPr>
        <p:txBody>
          <a:bodyPr rtlCol="0"/>
          <a:lstStyle/>
          <a:p>
            <a:pPr algn="ctr" rtl="0"/>
            <a:fld id="{992C59F5-1227-499C-A35F-B447F6AD0FC6}" type="datetime1">
              <a:rPr lang="pt-PT" i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12/06/2026</a:t>
            </a:fld>
            <a:endParaRPr lang="pt-PT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F7CFE22-4205-C8F6-AE33-4BF210FBB414}"/>
              </a:ext>
            </a:extLst>
          </p:cNvPr>
          <p:cNvSpPr txBox="1"/>
          <p:nvPr/>
        </p:nvSpPr>
        <p:spPr>
          <a:xfrm>
            <a:off x="3575305" y="1477100"/>
            <a:ext cx="5660135" cy="440120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pt-PT" sz="2800" b="1" dirty="0"/>
              <a:t>Formulário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/>
              <a:t>Validação.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/>
              <a:t>LocalStorage. </a:t>
            </a:r>
          </a:p>
          <a:p>
            <a:endParaRPr lang="pt-PT" sz="2800" b="1" dirty="0"/>
          </a:p>
          <a:p>
            <a:r>
              <a:rPr lang="pt-PT" sz="2800" b="1" dirty="0"/>
              <a:t>Página Primas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/>
              <a:t>Alteração dinâmica de conteúdos. </a:t>
            </a:r>
          </a:p>
          <a:p>
            <a:endParaRPr lang="pt-PT" sz="2800" b="1" dirty="0"/>
          </a:p>
          <a:p>
            <a:r>
              <a:rPr lang="pt-PT" sz="2800" b="1" dirty="0"/>
              <a:t>Loto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/>
              <a:t>Sorteio aleatório.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/>
              <a:t>Atualização visual das bolas.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/>
              <a:t>Reset.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/>
              <a:t>Reprodução de som.</a:t>
            </a:r>
          </a:p>
        </p:txBody>
      </p:sp>
      <p:sp>
        <p:nvSpPr>
          <p:cNvPr id="8" name="Marcador de Posição do Rodapé 9">
            <a:extLst>
              <a:ext uri="{FF2B5EF4-FFF2-40B4-BE49-F238E27FC236}">
                <a16:creationId xmlns:a16="http://schemas.microsoft.com/office/drawing/2014/main" id="{453E28B4-A7DC-3CF3-4C9E-7774176EE172}"/>
              </a:ext>
            </a:extLst>
          </p:cNvPr>
          <p:cNvSpPr txBox="1">
            <a:spLocks/>
          </p:cNvSpPr>
          <p:nvPr/>
        </p:nvSpPr>
        <p:spPr>
          <a:xfrm>
            <a:off x="8048625" y="514988"/>
            <a:ext cx="376475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pt-pt"/>
            </a:defPPr>
            <a:lvl1pPr marL="0" algn="ctr" defTabSz="914400" rtl="0" eaLnBrk="1" latinLnBrk="0" hangingPunct="1">
              <a:defRPr sz="1200" b="1" i="0" kern="1200" cap="all" spc="1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r>
              <a:rPr lang="pt-PT" sz="1800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Funcionalidades</a:t>
            </a:r>
          </a:p>
          <a:p>
            <a:pPr algn="r"/>
            <a:endParaRPr lang="pt-PT" sz="18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C355134B-BFC5-ADE4-9060-4D8B9FC2FEB5}"/>
              </a:ext>
            </a:extLst>
          </p:cNvPr>
          <p:cNvCxnSpPr>
            <a:cxnSpLocks/>
          </p:cNvCxnSpPr>
          <p:nvPr/>
        </p:nvCxnSpPr>
        <p:spPr>
          <a:xfrm>
            <a:off x="7232904" y="822425"/>
            <a:ext cx="4435221" cy="0"/>
          </a:xfrm>
          <a:prstGeom prst="straightConnector1">
            <a:avLst/>
          </a:prstGeom>
          <a:ln w="34925" cmpd="tri">
            <a:solidFill>
              <a:schemeClr val="tx1">
                <a:lumMod val="50000"/>
                <a:lumOff val="50000"/>
              </a:schemeClr>
            </a:solidFill>
            <a:headEnd type="stealth" w="lg" len="lg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Posição do Número do Diapositivo 10">
            <a:extLst>
              <a:ext uri="{FF2B5EF4-FFF2-40B4-BE49-F238E27FC236}">
                <a16:creationId xmlns:a16="http://schemas.microsoft.com/office/drawing/2014/main" id="{A63B793B-A1BA-100C-36DA-4E397863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5226" y="6356349"/>
            <a:ext cx="460899" cy="365125"/>
          </a:xfrm>
        </p:spPr>
        <p:txBody>
          <a:bodyPr rtlCol="0"/>
          <a:lstStyle/>
          <a:p>
            <a:pPr algn="ctr" rtl="0"/>
            <a:fld id="{D8DA9DAA-006C-4F4B-980E-E3DF019B24E2}" type="slidenum">
              <a:rPr lang="pt-PT" sz="1800" smtClean="0">
                <a:solidFill>
                  <a:schemeClr val="accent4">
                    <a:lumMod val="50000"/>
                  </a:schemeClr>
                </a:solidFill>
              </a:rPr>
              <a:pPr algn="ctr" rtl="0"/>
              <a:t>6</a:t>
            </a:fld>
            <a:endParaRPr lang="pt-PT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814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6832DE-EA56-D657-5B86-A6A6161BA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FD85A9D-89C1-A930-698C-BE38FA493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59" y="198030"/>
            <a:ext cx="4302257" cy="1179576"/>
          </a:xfrm>
          <a:noFill/>
          <a:effectLst>
            <a:glow rad="635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>
            <a:noAutofit/>
          </a:bodyPr>
          <a:lstStyle/>
          <a:p>
            <a:pPr rtl="0"/>
            <a:r>
              <a:rPr lang="pt-PT" sz="8000" dirty="0" err="1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Transistor</a:t>
            </a:r>
            <a:endParaRPr lang="pt-PT" sz="8000" dirty="0">
              <a:solidFill>
                <a:schemeClr val="accent4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Marcador de Posição da Data 8">
            <a:extLst>
              <a:ext uri="{FF2B5EF4-FFF2-40B4-BE49-F238E27FC236}">
                <a16:creationId xmlns:a16="http://schemas.microsoft.com/office/drawing/2014/main" id="{4C6A3845-8A97-981B-F5CA-7A4C3BE4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875" y="6356350"/>
            <a:ext cx="1466494" cy="365125"/>
          </a:xfrm>
        </p:spPr>
        <p:txBody>
          <a:bodyPr rtlCol="0"/>
          <a:lstStyle/>
          <a:p>
            <a:pPr algn="ctr" rtl="0"/>
            <a:fld id="{992C59F5-1227-499C-A35F-B447F6AD0FC6}" type="datetime1">
              <a:rPr lang="pt-PT" i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12/06/2026</a:t>
            </a:fld>
            <a:endParaRPr lang="pt-PT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Imagem 6" descr="Uma imagem com texto, diagrama, design&#10;&#10;Os conteúdos gerados por IA poderão estar incorretos.">
            <a:extLst>
              <a:ext uri="{FF2B5EF4-FFF2-40B4-BE49-F238E27FC236}">
                <a16:creationId xmlns:a16="http://schemas.microsoft.com/office/drawing/2014/main" id="{37004F15-4074-BB97-E6B9-220BC5FE4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524" y="2811523"/>
            <a:ext cx="3510299" cy="272617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C41B65EC-15A0-8B29-5730-8CCE72486CC7}"/>
              </a:ext>
            </a:extLst>
          </p:cNvPr>
          <p:cNvSpPr txBox="1"/>
          <p:nvPr/>
        </p:nvSpPr>
        <p:spPr>
          <a:xfrm>
            <a:off x="2648412" y="1922077"/>
            <a:ext cx="6282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Importante</a:t>
            </a:r>
            <a:r>
              <a:rPr lang="pt-PT" sz="2400" b="1" dirty="0"/>
              <a:t>:  Identificação dos terminais</a:t>
            </a:r>
          </a:p>
        </p:txBody>
      </p:sp>
      <p:sp>
        <p:nvSpPr>
          <p:cNvPr id="5" name="Marcador de Posição do Rodapé 9">
            <a:extLst>
              <a:ext uri="{FF2B5EF4-FFF2-40B4-BE49-F238E27FC236}">
                <a16:creationId xmlns:a16="http://schemas.microsoft.com/office/drawing/2014/main" id="{85AA8BD1-9E2F-1AF2-D6FA-300B938A2940}"/>
              </a:ext>
            </a:extLst>
          </p:cNvPr>
          <p:cNvSpPr txBox="1">
            <a:spLocks/>
          </p:cNvSpPr>
          <p:nvPr/>
        </p:nvSpPr>
        <p:spPr>
          <a:xfrm>
            <a:off x="8048625" y="386972"/>
            <a:ext cx="376475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pt-pt"/>
            </a:defPPr>
            <a:lvl1pPr marL="0" algn="ctr" defTabSz="914400" rtl="0" eaLnBrk="1" latinLnBrk="0" hangingPunct="1">
              <a:defRPr sz="1200" b="1" i="0" kern="1200" cap="all" spc="1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r>
              <a:rPr lang="pt-PT" sz="1800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Dificuldades Encontradas</a:t>
            </a:r>
          </a:p>
          <a:p>
            <a:pPr algn="r"/>
            <a:endParaRPr lang="pt-PT" sz="18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Conexão reta unidirecional 5">
            <a:extLst>
              <a:ext uri="{FF2B5EF4-FFF2-40B4-BE49-F238E27FC236}">
                <a16:creationId xmlns:a16="http://schemas.microsoft.com/office/drawing/2014/main" id="{829E9030-3CB0-9D38-B15C-9639FAC57F78}"/>
              </a:ext>
            </a:extLst>
          </p:cNvPr>
          <p:cNvCxnSpPr>
            <a:cxnSpLocks/>
          </p:cNvCxnSpPr>
          <p:nvPr/>
        </p:nvCxnSpPr>
        <p:spPr>
          <a:xfrm>
            <a:off x="8305800" y="822425"/>
            <a:ext cx="3362325" cy="0"/>
          </a:xfrm>
          <a:prstGeom prst="straightConnector1">
            <a:avLst/>
          </a:prstGeom>
          <a:ln w="34925" cmpd="tri">
            <a:solidFill>
              <a:schemeClr val="tx1">
                <a:lumMod val="50000"/>
                <a:lumOff val="50000"/>
              </a:schemeClr>
            </a:solidFill>
            <a:headEnd type="stealth" w="lg" len="lg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Posição do Número do Diapositivo 10">
            <a:extLst>
              <a:ext uri="{FF2B5EF4-FFF2-40B4-BE49-F238E27FC236}">
                <a16:creationId xmlns:a16="http://schemas.microsoft.com/office/drawing/2014/main" id="{65A53C3D-B41C-1B15-58A2-A3B32AC4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5226" y="6356349"/>
            <a:ext cx="460899" cy="365125"/>
          </a:xfrm>
        </p:spPr>
        <p:txBody>
          <a:bodyPr rtlCol="0"/>
          <a:lstStyle/>
          <a:p>
            <a:pPr algn="ctr" rtl="0"/>
            <a:fld id="{D8DA9DAA-006C-4F4B-980E-E3DF019B24E2}" type="slidenum">
              <a:rPr lang="pt-PT" sz="1800" smtClean="0">
                <a:solidFill>
                  <a:schemeClr val="accent4">
                    <a:lumMod val="50000"/>
                  </a:schemeClr>
                </a:solidFill>
              </a:rPr>
              <a:pPr algn="ctr" rtl="0"/>
              <a:t>7</a:t>
            </a:fld>
            <a:endParaRPr lang="pt-PT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874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E1B7523-F81A-2E7D-0CB8-17DB3180C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4ABB2F7-3755-C949-2B8D-AF3A7FD9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59" y="198030"/>
            <a:ext cx="4909666" cy="1179576"/>
          </a:xfrm>
          <a:noFill/>
          <a:effectLst>
            <a:glow rad="635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>
            <a:noAutofit/>
          </a:bodyPr>
          <a:lstStyle/>
          <a:p>
            <a:pPr rtl="0"/>
            <a:r>
              <a:rPr lang="pt-PT" sz="8000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Resistência</a:t>
            </a:r>
          </a:p>
        </p:txBody>
      </p:sp>
      <p:sp>
        <p:nvSpPr>
          <p:cNvPr id="9" name="Marcador de Posição da Data 8">
            <a:extLst>
              <a:ext uri="{FF2B5EF4-FFF2-40B4-BE49-F238E27FC236}">
                <a16:creationId xmlns:a16="http://schemas.microsoft.com/office/drawing/2014/main" id="{71B830DB-C0EB-C8DD-7EA7-592E22056E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875" y="6356350"/>
            <a:ext cx="1466494" cy="365125"/>
          </a:xfrm>
        </p:spPr>
        <p:txBody>
          <a:bodyPr rtlCol="0"/>
          <a:lstStyle/>
          <a:p>
            <a:pPr algn="ctr" rtl="0"/>
            <a:fld id="{992C59F5-1227-499C-A35F-B447F6AD0FC6}" type="datetime1">
              <a:rPr lang="pt-PT" i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12/06/2026</a:t>
            </a:fld>
            <a:endParaRPr lang="pt-PT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1B2587B-6C39-7730-BB68-5168A5245122}"/>
              </a:ext>
            </a:extLst>
          </p:cNvPr>
          <p:cNvSpPr txBox="1"/>
          <p:nvPr/>
        </p:nvSpPr>
        <p:spPr>
          <a:xfrm>
            <a:off x="4667712" y="1609381"/>
            <a:ext cx="618126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3200" b="0" i="0" dirty="0">
                <a:solidFill>
                  <a:srgbClr val="1D1D1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 </a:t>
            </a:r>
            <a:r>
              <a:rPr lang="pt-PT" sz="3200" i="0" strike="noStrike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resistência</a:t>
            </a:r>
            <a:r>
              <a:rPr lang="pt-PT" sz="3200" b="0" i="0" dirty="0">
                <a:solidFill>
                  <a:srgbClr val="1D1D1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é um componente que tem uma resistência definida e tem como função limitar a corrente elétrica ou o fluxo de eletrões através de um circuito elétrico.</a:t>
            </a:r>
            <a:endParaRPr lang="pt-PT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Imagem 19" descr="Uma imagem com clipart, Desenho animado, ilustração, desenho&#10;&#10;Os conteúdos gerados por IA poderão estar incorretos.">
            <a:extLst>
              <a:ext uri="{FF2B5EF4-FFF2-40B4-BE49-F238E27FC236}">
                <a16:creationId xmlns:a16="http://schemas.microsoft.com/office/drawing/2014/main" id="{2F21198A-6DDB-6BEC-CC99-D6A5F35CE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1798984"/>
            <a:ext cx="3035382" cy="21901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B7A53A4A-1B15-2087-5040-92DFAF288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66570"/>
              </p:ext>
            </p:extLst>
          </p:nvPr>
        </p:nvGraphicFramePr>
        <p:xfrm>
          <a:off x="5495925" y="4483639"/>
          <a:ext cx="455260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050">
                  <a:extLst>
                    <a:ext uri="{9D8B030D-6E8A-4147-A177-3AD203B41FA5}">
                      <a16:colId xmlns:a16="http://schemas.microsoft.com/office/drawing/2014/main" val="3843882409"/>
                    </a:ext>
                  </a:extLst>
                </a:gridCol>
                <a:gridCol w="1156161">
                  <a:extLst>
                    <a:ext uri="{9D8B030D-6E8A-4147-A177-3AD203B41FA5}">
                      <a16:colId xmlns:a16="http://schemas.microsoft.com/office/drawing/2014/main" val="2779236284"/>
                    </a:ext>
                  </a:extLst>
                </a:gridCol>
                <a:gridCol w="2256393">
                  <a:extLst>
                    <a:ext uri="{9D8B030D-6E8A-4147-A177-3AD203B41FA5}">
                      <a16:colId xmlns:a16="http://schemas.microsoft.com/office/drawing/2014/main" val="687458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Voltagem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Resistência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Intensidade Corrente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27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R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70642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PT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Unidades de medida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  <a:alpha val="73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62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ohm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ampere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620021"/>
                  </a:ext>
                </a:extLst>
              </a:tr>
            </a:tbl>
          </a:graphicData>
        </a:graphic>
      </p:graphicFrame>
      <p:pic>
        <p:nvPicPr>
          <p:cNvPr id="25" name="Imagem 24" descr="Uma imagem com texto, Tipo de letra, Sinalização rodoviária, sinalizar&#10;&#10;Os conteúdos gerados por IA poderão estar incorretos.">
            <a:extLst>
              <a:ext uri="{FF2B5EF4-FFF2-40B4-BE49-F238E27FC236}">
                <a16:creationId xmlns:a16="http://schemas.microsoft.com/office/drawing/2014/main" id="{A6ED1F01-746F-88E2-7767-2539BFC4C6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4038" y="4480676"/>
            <a:ext cx="1540906" cy="14863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6" name="Marcador de Posição do Rodapé 9">
            <a:extLst>
              <a:ext uri="{FF2B5EF4-FFF2-40B4-BE49-F238E27FC236}">
                <a16:creationId xmlns:a16="http://schemas.microsoft.com/office/drawing/2014/main" id="{83EAD5CE-B9C0-8A88-3425-CB96BC8BA0E3}"/>
              </a:ext>
            </a:extLst>
          </p:cNvPr>
          <p:cNvSpPr txBox="1">
            <a:spLocks/>
          </p:cNvSpPr>
          <p:nvPr/>
        </p:nvSpPr>
        <p:spPr>
          <a:xfrm>
            <a:off x="8048625" y="386972"/>
            <a:ext cx="376475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pt-pt"/>
            </a:defPPr>
            <a:lvl1pPr marL="0" algn="ctr" defTabSz="914400" rtl="0" eaLnBrk="1" latinLnBrk="0" hangingPunct="1">
              <a:defRPr sz="1200" b="1" i="0" kern="1200" cap="all" spc="1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r>
              <a:rPr lang="pt-PT" sz="1800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Eletrónica Básica </a:t>
            </a:r>
            <a:r>
              <a:rPr lang="pt-PT" sz="1200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 </a:t>
            </a:r>
          </a:p>
          <a:p>
            <a:pPr algn="r" rtl="0"/>
            <a:r>
              <a:rPr lang="pt-PT" sz="1800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Montagem de kit Eletrónico </a:t>
            </a:r>
          </a:p>
          <a:p>
            <a:pPr algn="r"/>
            <a:endParaRPr lang="pt-PT" sz="18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7" name="Conexão reta unidirecional 26">
            <a:extLst>
              <a:ext uri="{FF2B5EF4-FFF2-40B4-BE49-F238E27FC236}">
                <a16:creationId xmlns:a16="http://schemas.microsoft.com/office/drawing/2014/main" id="{90EBC52D-6CA9-07B0-3076-559A4FF7DC8B}"/>
              </a:ext>
            </a:extLst>
          </p:cNvPr>
          <p:cNvCxnSpPr>
            <a:cxnSpLocks/>
          </p:cNvCxnSpPr>
          <p:nvPr/>
        </p:nvCxnSpPr>
        <p:spPr>
          <a:xfrm>
            <a:off x="8305800" y="822425"/>
            <a:ext cx="3362325" cy="0"/>
          </a:xfrm>
          <a:prstGeom prst="straightConnector1">
            <a:avLst/>
          </a:prstGeom>
          <a:ln w="34925" cmpd="tri">
            <a:solidFill>
              <a:schemeClr val="tx1">
                <a:lumMod val="50000"/>
                <a:lumOff val="50000"/>
              </a:schemeClr>
            </a:solidFill>
            <a:headEnd type="stealth" w="lg" len="lg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Posição do Número do Diapositivo 10">
            <a:extLst>
              <a:ext uri="{FF2B5EF4-FFF2-40B4-BE49-F238E27FC236}">
                <a16:creationId xmlns:a16="http://schemas.microsoft.com/office/drawing/2014/main" id="{9B53CF67-2AEE-A66A-041A-D66CFCC6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5226" y="6356349"/>
            <a:ext cx="460899" cy="365125"/>
          </a:xfrm>
        </p:spPr>
        <p:txBody>
          <a:bodyPr rtlCol="0"/>
          <a:lstStyle/>
          <a:p>
            <a:pPr algn="ctr" rtl="0"/>
            <a:fld id="{D8DA9DAA-006C-4F4B-980E-E3DF019B24E2}" type="slidenum">
              <a:rPr lang="pt-PT" sz="1800" smtClean="0">
                <a:solidFill>
                  <a:schemeClr val="accent4">
                    <a:lumMod val="50000"/>
                  </a:schemeClr>
                </a:solidFill>
              </a:rPr>
              <a:pPr algn="ctr" rtl="0"/>
              <a:t>8</a:t>
            </a:fld>
            <a:endParaRPr lang="pt-PT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093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D37E440-5999-37A0-3130-FE66265E0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099E6E2-F23D-0CCB-A3CA-3AC941D93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259" y="198030"/>
            <a:ext cx="4909666" cy="1179576"/>
          </a:xfrm>
          <a:noFill/>
          <a:effectLst>
            <a:glow rad="63500">
              <a:schemeClr val="accent5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rtlCol="0">
            <a:noAutofit/>
          </a:bodyPr>
          <a:lstStyle/>
          <a:p>
            <a:pPr rtl="0"/>
            <a:r>
              <a:rPr lang="pt-PT" sz="8000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Resistência</a:t>
            </a:r>
          </a:p>
        </p:txBody>
      </p:sp>
      <p:sp>
        <p:nvSpPr>
          <p:cNvPr id="9" name="Marcador de Posição da Data 8">
            <a:extLst>
              <a:ext uri="{FF2B5EF4-FFF2-40B4-BE49-F238E27FC236}">
                <a16:creationId xmlns:a16="http://schemas.microsoft.com/office/drawing/2014/main" id="{8A012AC6-D11C-E43B-915D-45F90EEB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875" y="6356350"/>
            <a:ext cx="1466494" cy="365125"/>
          </a:xfrm>
        </p:spPr>
        <p:txBody>
          <a:bodyPr rtlCol="0"/>
          <a:lstStyle/>
          <a:p>
            <a:pPr algn="ctr" rtl="0"/>
            <a:fld id="{992C59F5-1227-499C-A35F-B447F6AD0FC6}" type="datetime1">
              <a:rPr lang="pt-PT" i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12/06/2026</a:t>
            </a:fld>
            <a:endParaRPr lang="pt-PT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Marcador de Posição do Número do Diapositivo 10">
            <a:extLst>
              <a:ext uri="{FF2B5EF4-FFF2-40B4-BE49-F238E27FC236}">
                <a16:creationId xmlns:a16="http://schemas.microsoft.com/office/drawing/2014/main" id="{CCFF6BE6-5B6F-40D9-5CB1-ECB79B8FC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5226" y="6356349"/>
            <a:ext cx="460899" cy="365125"/>
          </a:xfrm>
        </p:spPr>
        <p:txBody>
          <a:bodyPr rtlCol="0"/>
          <a:lstStyle/>
          <a:p>
            <a:pPr algn="ctr" rtl="0"/>
            <a:fld id="{D8DA9DAA-006C-4F4B-980E-E3DF019B24E2}" type="slidenum">
              <a:rPr lang="pt-PT" sz="1800" smtClean="0">
                <a:solidFill>
                  <a:schemeClr val="accent4">
                    <a:lumMod val="50000"/>
                  </a:schemeClr>
                </a:solidFill>
              </a:rPr>
              <a:pPr algn="ctr" rtl="0"/>
              <a:t>9</a:t>
            </a:fld>
            <a:endParaRPr lang="pt-PT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CC93634-B186-3F27-15EB-D92873AAE1CF}"/>
              </a:ext>
            </a:extLst>
          </p:cNvPr>
          <p:cNvSpPr txBox="1"/>
          <p:nvPr/>
        </p:nvSpPr>
        <p:spPr>
          <a:xfrm>
            <a:off x="2650562" y="1699280"/>
            <a:ext cx="68908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Alguns exemplos de resistências usadas</a:t>
            </a:r>
          </a:p>
          <a:p>
            <a:pPr algn="ctr"/>
            <a:r>
              <a:rPr lang="pt-PT" sz="32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pt-PT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nosso dia a dia</a:t>
            </a:r>
            <a:endParaRPr lang="pt-PT" sz="24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m 3" descr="Uma imagem com ferramenta, Equipamento médico, cabo&#10;&#10;Os conteúdos gerados por IA poderão estar incorretos.">
            <a:extLst>
              <a:ext uri="{FF2B5EF4-FFF2-40B4-BE49-F238E27FC236}">
                <a16:creationId xmlns:a16="http://schemas.microsoft.com/office/drawing/2014/main" id="{AACC7CE0-F269-5501-D7F5-042ADA9B5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180" y="2968593"/>
            <a:ext cx="2226736" cy="10649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6" name="Imagem 5" descr="Uma imagem com metal&#10;&#10;Os conteúdos gerados por IA poderão estar incorretos.">
            <a:extLst>
              <a:ext uri="{FF2B5EF4-FFF2-40B4-BE49-F238E27FC236}">
                <a16:creationId xmlns:a16="http://schemas.microsoft.com/office/drawing/2014/main" id="{5B6F46E9-C803-B3BF-BFB1-E1D2125A2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8" y="2968593"/>
            <a:ext cx="1616396" cy="14593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Imagem 11" descr="Uma imagem com Eletrodoméstico, eletrodoméstico&#10;&#10;Os conteúdos gerados por IA poderão estar incorretos.">
            <a:extLst>
              <a:ext uri="{FF2B5EF4-FFF2-40B4-BE49-F238E27FC236}">
                <a16:creationId xmlns:a16="http://schemas.microsoft.com/office/drawing/2014/main" id="{89D8406D-C0B0-6F5E-0688-F031B001A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7802" y="3351815"/>
            <a:ext cx="1616395" cy="218525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4" name="Imagem 13" descr="Uma imagem com candeeiro&#10;&#10;Os conteúdos gerados por IA poderão estar incorretos.">
            <a:extLst>
              <a:ext uri="{FF2B5EF4-FFF2-40B4-BE49-F238E27FC236}">
                <a16:creationId xmlns:a16="http://schemas.microsoft.com/office/drawing/2014/main" id="{084FAED6-93E1-A508-0849-CB1D0F6708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508" y="4719687"/>
            <a:ext cx="1773266" cy="10772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6" name="Imagem 15" descr="Uma imagem com carne, Grelhador, grelhar, Grelhas e chapas para grelhador de jardim&#10;&#10;Os conteúdos gerados por IA poderão estar incorretos.">
            <a:extLst>
              <a:ext uri="{FF2B5EF4-FFF2-40B4-BE49-F238E27FC236}">
                <a16:creationId xmlns:a16="http://schemas.microsoft.com/office/drawing/2014/main" id="{E61D92C5-2279-612F-1B05-CB17F3D45C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7755" y="4592999"/>
            <a:ext cx="2226736" cy="12039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" name="Marcador de Posição do Rodapé 9">
            <a:extLst>
              <a:ext uri="{FF2B5EF4-FFF2-40B4-BE49-F238E27FC236}">
                <a16:creationId xmlns:a16="http://schemas.microsoft.com/office/drawing/2014/main" id="{A7E55323-5EAF-3A9C-1572-BF246EC5FEF0}"/>
              </a:ext>
            </a:extLst>
          </p:cNvPr>
          <p:cNvSpPr txBox="1">
            <a:spLocks/>
          </p:cNvSpPr>
          <p:nvPr/>
        </p:nvSpPr>
        <p:spPr>
          <a:xfrm>
            <a:off x="8048625" y="386972"/>
            <a:ext cx="376475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pt-pt"/>
            </a:defPPr>
            <a:lvl1pPr marL="0" algn="ctr" defTabSz="914400" rtl="0" eaLnBrk="1" latinLnBrk="0" hangingPunct="1">
              <a:defRPr sz="1200" b="1" i="0" kern="1200" cap="all" spc="1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r>
              <a:rPr lang="pt-PT" sz="1800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Eletrónica Básica </a:t>
            </a:r>
            <a:r>
              <a:rPr lang="pt-PT" sz="1200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 </a:t>
            </a:r>
          </a:p>
          <a:p>
            <a:pPr algn="r" rtl="0"/>
            <a:r>
              <a:rPr lang="pt-PT" sz="1800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Montagem de kit Eletrónico </a:t>
            </a:r>
          </a:p>
          <a:p>
            <a:pPr algn="r"/>
            <a:endParaRPr lang="pt-PT" sz="18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Conexão reta unidirecional 4">
            <a:extLst>
              <a:ext uri="{FF2B5EF4-FFF2-40B4-BE49-F238E27FC236}">
                <a16:creationId xmlns:a16="http://schemas.microsoft.com/office/drawing/2014/main" id="{C1534FAF-EC02-1E47-CCCB-1445DE995C6D}"/>
              </a:ext>
            </a:extLst>
          </p:cNvPr>
          <p:cNvCxnSpPr>
            <a:cxnSpLocks/>
          </p:cNvCxnSpPr>
          <p:nvPr/>
        </p:nvCxnSpPr>
        <p:spPr>
          <a:xfrm>
            <a:off x="8305800" y="822425"/>
            <a:ext cx="3362325" cy="0"/>
          </a:xfrm>
          <a:prstGeom prst="straightConnector1">
            <a:avLst/>
          </a:prstGeom>
          <a:ln w="34925" cmpd="tri">
            <a:solidFill>
              <a:schemeClr val="tx1">
                <a:lumMod val="50000"/>
                <a:lumOff val="50000"/>
              </a:schemeClr>
            </a:solidFill>
            <a:headEnd type="stealth" w="lg" len="lg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082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9766" y="5058479"/>
            <a:ext cx="4232468" cy="591090"/>
          </a:xfrm>
        </p:spPr>
        <p:txBody>
          <a:bodyPr rtlCol="0">
            <a:normAutofit/>
          </a:bodyPr>
          <a:lstStyle/>
          <a:p>
            <a:pPr algn="ctr" rtl="0"/>
            <a:r>
              <a:rPr lang="pt-PT" sz="2400" spc="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Fim </a:t>
            </a:r>
            <a:r>
              <a:rPr lang="pt-PT" sz="1200" spc="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 apresentação</a:t>
            </a:r>
            <a:endParaRPr lang="pt-PT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09688" y="6355652"/>
            <a:ext cx="1410081" cy="339630"/>
          </a:xfrm>
        </p:spPr>
        <p:txBody>
          <a:bodyPr rtlCol="0">
            <a:normAutofit fontScale="62500" lnSpcReduction="20000"/>
          </a:bodyPr>
          <a:lstStyle/>
          <a:p>
            <a:pPr rtl="0"/>
            <a:r>
              <a:rPr lang="pt-PT" sz="2300" dirty="0">
                <a:solidFill>
                  <a:schemeClr val="bg1"/>
                </a:solidFill>
              </a:rPr>
              <a:t>… até breve !</a:t>
            </a:r>
          </a:p>
          <a:p>
            <a:pPr rtl="0"/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60B57EC-7D9E-20ED-BD0C-8FCF078BA3A1}"/>
              </a:ext>
            </a:extLst>
          </p:cNvPr>
          <p:cNvSpPr txBox="1"/>
          <p:nvPr/>
        </p:nvSpPr>
        <p:spPr>
          <a:xfrm>
            <a:off x="1121953" y="803439"/>
            <a:ext cx="9948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dirty="0">
                <a:solidFill>
                  <a:srgbClr val="403E3B"/>
                </a:solidFill>
                <a:latin typeface="Roboto" pitchFamily="2" charset="0"/>
              </a:rPr>
              <a:t>“</a:t>
            </a:r>
            <a:r>
              <a:rPr lang="pt-PT" b="0" i="0" dirty="0">
                <a:solidFill>
                  <a:srgbClr val="403E3B"/>
                </a:solidFill>
                <a:effectLst/>
                <a:latin typeface="Roboto" pitchFamily="2" charset="0"/>
              </a:rPr>
              <a:t>A cada amanhecer, a vida dá-nos </a:t>
            </a:r>
            <a:r>
              <a:rPr lang="pt-PT" b="1" i="0" dirty="0">
                <a:solidFill>
                  <a:srgbClr val="403E3B"/>
                </a:solidFill>
                <a:effectLst/>
                <a:latin typeface="Roboto" pitchFamily="2" charset="0"/>
              </a:rPr>
              <a:t>uma nova oportunidade</a:t>
            </a:r>
            <a:r>
              <a:rPr lang="pt-PT" b="0" i="0" dirty="0">
                <a:solidFill>
                  <a:srgbClr val="403E3B"/>
                </a:solidFill>
                <a:effectLst/>
                <a:latin typeface="Roboto" pitchFamily="2" charset="0"/>
              </a:rPr>
              <a:t> para aprender e continuar a evoluir.”</a:t>
            </a:r>
            <a:endParaRPr lang="pt-PT" dirty="0">
              <a:solidFill>
                <a:schemeClr val="bg1"/>
              </a:solidFill>
            </a:endParaRPr>
          </a:p>
        </p:txBody>
      </p:sp>
      <p:pic>
        <p:nvPicPr>
          <p:cNvPr id="8" name="Imagem 7" descr="Uma imagem com texto, céu, silhueta, praia&#10;&#10;Os conteúdos gerados por IA poderão estar incorretos.">
            <a:extLst>
              <a:ext uri="{FF2B5EF4-FFF2-40B4-BE49-F238E27FC236}">
                <a16:creationId xmlns:a16="http://schemas.microsoft.com/office/drawing/2014/main" id="{2EE003EF-4788-9B97-718C-1DAAB0328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766" y="1871209"/>
            <a:ext cx="4232468" cy="258435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16_TF89338750_Win32" id="{40F9AE7F-7D98-4657-9EDD-78A0A49BC3D6}" vid="{50E2CB39-6189-44C8-BD7D-EDB252C384C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{661AA5EB-1E75-4947-97AF-97B75E96C09D}tf89338750_win32</Template>
  <TotalTime>2260</TotalTime>
  <Words>382</Words>
  <Application>Microsoft Office PowerPoint</Application>
  <PresentationFormat>Ecrã Panorâmico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Candara</vt:lpstr>
      <vt:lpstr>Google Sans</vt:lpstr>
      <vt:lpstr>Roboto</vt:lpstr>
      <vt:lpstr>Univers</vt:lpstr>
      <vt:lpstr>Wingdings</vt:lpstr>
      <vt:lpstr>GradientUnivers</vt:lpstr>
      <vt:lpstr>Agenda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Transistor</vt:lpstr>
      <vt:lpstr>Resistência</vt:lpstr>
      <vt:lpstr>Resistência</vt:lpstr>
      <vt:lpstr>Fim da apresentação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António Pereira</dc:creator>
  <cp:lastModifiedBy>António Joaquim de Matos Pereira</cp:lastModifiedBy>
  <cp:revision>19</cp:revision>
  <dcterms:created xsi:type="dcterms:W3CDTF">2025-05-23T07:30:54Z</dcterms:created>
  <dcterms:modified xsi:type="dcterms:W3CDTF">2026-06-12T21:57:03Z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